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screenshot was taken on the live test site with real accounts, on 29 September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three points on the left are the whole access model in one line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Wording here is the review’s: "Your account exists. This helps us connect you to your institution."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trainees are let in by their address alone. An attending physician is reviewed either way, and a program administrator vouches for other people — neither is something a domain match can establish.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Wording taken from the review: they can watch the core EyeLecture material in the interim.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program administrator sees no institution picker here — they can only ever validate into their 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invitation shown is waiting. Accepted, withdrawn and expired ones stay on the list too — the question people ask months later is "did we ever ask them, and what came of it".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157276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8AA8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EYELECTURE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1920240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150" kern="0" dirty="0">
                <a:solidFill>
                  <a:srgbClr val="FBFCF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Signing up for </a:t>
            </a:r>
            <a:pPr indent="0" marL="0">
              <a:buNone/>
            </a:pPr>
            <a:r>
              <a:rPr lang="en-US" sz="4400" b="1" i="1" spc="-150" kern="0" dirty="0">
                <a:solidFill>
                  <a:srgbClr val="8AA8F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EyeLecture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896112" y="288036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A7B2C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every kind of user sees — before, during and after approval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96112" y="352044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BFCFE"/>
                </a:solidFill>
                <a:latin typeface="Geist Mono" pitchFamily="34" charset="0"/>
                <a:ea typeface="Geist Mono" pitchFamily="34" charset="-122"/>
                <a:cs typeface="Geist Mono" pitchFamily="34" charset="-120"/>
              </a:rPr>
              <a:t>eyelecture-d.next2.ai</a:t>
            </a:r>
            <a:pPr indent="0" marL="0">
              <a:buNone/>
            </a:pPr>
            <a:r>
              <a:rPr lang="en-US" sz="1300" dirty="0">
                <a:solidFill>
                  <a:srgbClr val="7E8CA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    29 September 2026     test environment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4572000"/>
            <a:ext cx="6035040" cy="713232"/>
          </a:xfrm>
          <a:prstGeom prst="roundRect">
            <a:avLst>
              <a:gd name="adj" fmla="val 21410"/>
            </a:avLst>
          </a:prstGeom>
          <a:solidFill>
            <a:srgbClr val="1C3462"/>
          </a:solidFill>
          <a:ln w="12700">
            <a:solidFill>
              <a:srgbClr val="33405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143000" y="4572000"/>
            <a:ext cx="5577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FDDFC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Rebuilt after the September review — every screen here is the current one.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90" kern="0" dirty="0">
                <a:solidFill>
                  <a:srgbClr val="6B778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SINCE THE LAST DECK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0F172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What changed after the September review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review asked for five things. All five are in the screenshots that follow.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11109960" cy="786384"/>
          </a:xfrm>
          <a:prstGeom prst="roundRect">
            <a:avLst>
              <a:gd name="adj" fmla="val 19419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10512"/>
            <a:ext cx="50292" cy="786384"/>
          </a:xfrm>
          <a:prstGeom prst="roundRect">
            <a:avLst>
              <a:gd name="adj" fmla="val 150909"/>
            </a:avLst>
          </a:prstGeom>
          <a:solidFill>
            <a:srgbClr val="1B4FD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9110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20" kern="0" dirty="0">
                <a:solidFill>
                  <a:srgbClr val="0F172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Personal email first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76272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B55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private address is now required and asked for before anything else. An institutional mailbox is switched off the day somebody graduates; the personal one is what keeps the account theirs.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06624"/>
            <a:ext cx="11109960" cy="786384"/>
          </a:xfrm>
          <a:prstGeom prst="roundRect">
            <a:avLst>
              <a:gd name="adj" fmla="val 19419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706624"/>
            <a:ext cx="50292" cy="786384"/>
          </a:xfrm>
          <a:prstGeom prst="roundRect">
            <a:avLst>
              <a:gd name="adj" fmla="val 150909"/>
            </a:avLst>
          </a:prstGeom>
          <a:solidFill>
            <a:srgbClr val="6E4B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280720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20" kern="0" dirty="0">
                <a:solidFill>
                  <a:srgbClr val="0F172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Super User and Program Administrator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072384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B55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used to be one “administrator” is now two ranks. A super user works across the platform; a program administrator runs one institution and approves everybody at it.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602736"/>
            <a:ext cx="11109960" cy="786384"/>
          </a:xfrm>
          <a:prstGeom prst="roundRect">
            <a:avLst>
              <a:gd name="adj" fmla="val 19419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602736"/>
            <a:ext cx="50292" cy="786384"/>
          </a:xfrm>
          <a:prstGeom prst="roundRect">
            <a:avLst>
              <a:gd name="adj" fmla="val 150909"/>
            </a:avLst>
          </a:prstGeom>
          <a:solidFill>
            <a:srgbClr val="0A7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37033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20" kern="0" dirty="0">
                <a:solidFill>
                  <a:srgbClr val="0F172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PGY levels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3968496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B55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Residents are asked how far along they are — PGY-1 to PGY-7, editable from Reference lists rather than hard-coded.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498848"/>
            <a:ext cx="11109960" cy="786384"/>
          </a:xfrm>
          <a:prstGeom prst="roundRect">
            <a:avLst>
              <a:gd name="adj" fmla="val 19419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498848"/>
            <a:ext cx="50292" cy="786384"/>
          </a:xfrm>
          <a:prstGeom prst="roundRect">
            <a:avLst>
              <a:gd name="adj" fmla="val 150909"/>
            </a:avLst>
          </a:prstGeom>
          <a:solidFill>
            <a:srgbClr val="0A7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599432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20" kern="0" dirty="0">
                <a:solidFill>
                  <a:srgbClr val="0F172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 record of every affiliation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864608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B55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Moving institutions no longer overwrites the old one. Each is kept with its dates, and past ones still grant access to that institution’s material.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548640" y="5394960"/>
            <a:ext cx="11109960" cy="786384"/>
          </a:xfrm>
          <a:prstGeom prst="roundRect">
            <a:avLst>
              <a:gd name="adj" fmla="val 19419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5394960"/>
            <a:ext cx="50292" cy="786384"/>
          </a:xfrm>
          <a:prstGeom prst="roundRect">
            <a:avLst>
              <a:gd name="adj" fmla="val 150909"/>
            </a:avLst>
          </a:prstGeom>
          <a:solidFill>
            <a:srgbClr val="D98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68680" y="549554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20" kern="0" dirty="0">
                <a:solidFill>
                  <a:srgbClr val="0F172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Invitations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68680" y="576072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B55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first program administrator at an institution is invited by email rather than having to sign up and wait in a queue.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400800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Wording on every screen was taken from the review comments verbatim where one was given.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18288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spc="-300" kern="0" dirty="0">
                <a:solidFill>
                  <a:srgbClr val="8AA8F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</a:t>
            </a:r>
            <a:endParaRPr lang="en-US" sz="84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2461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20" kern="0" dirty="0">
                <a:solidFill>
                  <a:srgbClr val="FBFCF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Signing up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96112" y="411480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A7B2C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Two steps, and an account exists after the first one. Nothing is asked about somebody’s training until there is an account to attach it to.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90" kern="0" dirty="0">
                <a:solidFill>
                  <a:srgbClr val="6B778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SIGNED OUT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0F172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Sign in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People sign in with a username, not an email address — so an account survives changing institutions.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870198" y="1527048"/>
            <a:ext cx="6466844" cy="5010912"/>
          </a:xfrm>
          <a:prstGeom prst="roundRect">
            <a:avLst>
              <a:gd name="adj" fmla="val 3047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203200" dist="76200" dir="5400000">
              <a:srgbClr val="0F172A">
                <a:alpha val="10000"/>
              </a:srgbClr>
            </a:outerShdw>
          </a:effectLst>
        </p:spPr>
      </p:sp>
      <p:pic>
        <p:nvPicPr>
          <p:cNvPr id="6" name="Image 0" descr="/sessions/exciting-lucid-brown/mnt/outputs/shots2/01-signi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2494" y="1609344"/>
            <a:ext cx="630225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90" kern="0" dirty="0">
                <a:solidFill>
                  <a:srgbClr val="6B778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STEP 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0F172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Create your account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name, a username and a password. No email address yet: everything an address is needed for happens after the account exists.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870198" y="1527048"/>
            <a:ext cx="6466844" cy="5010912"/>
          </a:xfrm>
          <a:prstGeom prst="roundRect">
            <a:avLst>
              <a:gd name="adj" fmla="val 3047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203200" dist="76200" dir="5400000">
              <a:srgbClr val="0F172A">
                <a:alpha val="10000"/>
              </a:srgbClr>
            </a:outerShdw>
          </a:effectLst>
        </p:spPr>
      </p:sp>
      <p:pic>
        <p:nvPicPr>
          <p:cNvPr id="6" name="Image 0" descr="/sessions/exciting-lucid-brown/mnt/outputs/shots2/02-register-empt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2494" y="1609344"/>
            <a:ext cx="630225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90" kern="0" dirty="0">
                <a:solidFill>
                  <a:srgbClr val="6B778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STEP ONE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0F172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username is permanent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Said on the field itself rather than in a confirmation nobody reads. Password rules are two, and both are shown as you type.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870198" y="1527048"/>
            <a:ext cx="6466844" cy="5010912"/>
          </a:xfrm>
          <a:prstGeom prst="roundRect">
            <a:avLst>
              <a:gd name="adj" fmla="val 3047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203200" dist="76200" dir="5400000">
              <a:srgbClr val="0F172A">
                <a:alpha val="10000"/>
              </a:srgbClr>
            </a:outerShdw>
          </a:effectLst>
        </p:spPr>
      </p:sp>
      <p:pic>
        <p:nvPicPr>
          <p:cNvPr id="6" name="Image 0" descr="/sessions/exciting-lucid-brown/mnt/outputs/shots2/03-register-fill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52494" y="1609344"/>
            <a:ext cx="6302252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90" kern="0" dirty="0">
                <a:solidFill>
                  <a:srgbClr val="6B778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STEP TWO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0F172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Complete your profile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User type first, because it decides every question after it. Then the personal address — the one that outlasts everything else on the form.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66344" y="1527048"/>
            <a:ext cx="11274552" cy="3547835"/>
          </a:xfrm>
          <a:prstGeom prst="roundRect">
            <a:avLst>
              <a:gd name="adj" fmla="val 4304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203200" dist="76200" dir="5400000">
              <a:srgbClr val="0F172A">
                <a:alpha val="10000"/>
              </a:srgbClr>
            </a:outerShdw>
          </a:effectLst>
        </p:spPr>
      </p:sp>
      <p:pic>
        <p:nvPicPr>
          <p:cNvPr id="6" name="Image 0" descr="/sessions/exciting-lucid-brown/mnt/outputs/shots2/04-profile-step-empt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9344"/>
            <a:ext cx="11109960" cy="33832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90" kern="0" dirty="0">
                <a:solidFill>
                  <a:srgbClr val="6B778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STEP TWO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0F172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Five user types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Each one is asked a different set of questions. A medical student is never asked for a clinical focus; an attending physician is never asked for an institutional address.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66344" y="1527048"/>
            <a:ext cx="11274552" cy="3826033"/>
          </a:xfrm>
          <a:prstGeom prst="roundRect">
            <a:avLst>
              <a:gd name="adj" fmla="val 3991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203200" dist="76200" dir="5400000">
              <a:srgbClr val="0F172A">
                <a:alpha val="10000"/>
              </a:srgbClr>
            </a:outerShdw>
          </a:effectLst>
        </p:spPr>
      </p:sp>
      <p:pic>
        <p:nvPicPr>
          <p:cNvPr id="6" name="Image 0" descr="/sessions/exciting-lucid-brown/mnt/outputs/shots2/05-user-type-op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9344"/>
            <a:ext cx="11109960" cy="366144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90" kern="0" dirty="0">
                <a:solidFill>
                  <a:srgbClr val="6B778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STEP TWO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0F172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 recognised domain confirms you on the spot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Typing an address on a domain the institution owns validates a trainee immediately — no queue, no waiting on a person. A resident is also asked their PGY level.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159295" y="1527048"/>
            <a:ext cx="9888651" cy="5010912"/>
          </a:xfrm>
          <a:prstGeom prst="roundRect">
            <a:avLst>
              <a:gd name="adj" fmla="val 3047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203200" dist="76200" dir="5400000">
              <a:srgbClr val="0F172A">
                <a:alpha val="10000"/>
              </a:srgbClr>
            </a:outerShdw>
          </a:effectLst>
        </p:spPr>
      </p:sp>
      <p:pic>
        <p:nvPicPr>
          <p:cNvPr id="6" name="Image 0" descr="/sessions/exciting-lucid-brown/mnt/outputs/shots2/06-profile-resident-validat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41591" y="1609344"/>
            <a:ext cx="9724059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90" kern="0" dirty="0">
                <a:solidFill>
                  <a:srgbClr val="6B778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STEP TWO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0F172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Confirm the address, and you are in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link is what proves the mailbox is theirs. It is the last thing between them and signing in.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66344" y="1527048"/>
            <a:ext cx="11274552" cy="2605553"/>
          </a:xfrm>
          <a:prstGeom prst="roundRect">
            <a:avLst>
              <a:gd name="adj" fmla="val 5861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203200" dist="76200" dir="5400000">
              <a:srgbClr val="0F172A">
                <a:alpha val="10000"/>
              </a:srgbClr>
            </a:outerShdw>
          </a:effectLst>
        </p:spPr>
      </p:sp>
      <p:pic>
        <p:nvPicPr>
          <p:cNvPr id="6" name="Image 0" descr="/sessions/exciting-lucid-brown/mnt/outputs/shots2/07-check-your-emai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9344"/>
            <a:ext cx="11109960" cy="244096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18288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spc="-300" kern="0" dirty="0">
                <a:solidFill>
                  <a:srgbClr val="5FD09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2</a:t>
            </a:r>
            <a:endParaRPr lang="en-US" sz="84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2461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20" kern="0" dirty="0">
                <a:solidFill>
                  <a:srgbClr val="FBFCF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After signing up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96112" y="411480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A7B2C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Two outcomes: confirmed by your address, or waiting for a person. Both land somewhere that says which one you are.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90" kern="0" dirty="0">
                <a:solidFill>
                  <a:srgbClr val="6B778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VALIDATED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0F172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Confirmed by your domain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Nothing to do. The badge says how the membership was established, so nobody has to ask.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66344" y="1527048"/>
            <a:ext cx="11274552" cy="3467068"/>
          </a:xfrm>
          <a:prstGeom prst="roundRect">
            <a:avLst>
              <a:gd name="adj" fmla="val 4404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203200" dist="76200" dir="5400000">
              <a:srgbClr val="0F172A">
                <a:alpha val="10000"/>
              </a:srgbClr>
            </a:outerShdw>
          </a:effectLst>
        </p:spPr>
      </p:sp>
      <p:pic>
        <p:nvPicPr>
          <p:cNvPr id="6" name="Image 0" descr="/sessions/exciting-lucid-brown/mnt/outputs/shots2/10-fellow-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9344"/>
            <a:ext cx="11109960" cy="33024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90" kern="0" dirty="0">
                <a:solidFill>
                  <a:srgbClr val="6B778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WAITING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0F172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Waiting for a program director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address on a domain we do not recognise means a person has to vouch for them — but the core material is open in the meantime.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66344" y="1527048"/>
            <a:ext cx="11274552" cy="4256791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203200" dist="76200" dir="5400000">
              <a:srgbClr val="0F172A">
                <a:alpha val="10000"/>
              </a:srgbClr>
            </a:outerShdw>
          </a:effectLst>
        </p:spPr>
      </p:sp>
      <p:pic>
        <p:nvPicPr>
          <p:cNvPr id="6" name="Image 0" descr="/sessions/exciting-lucid-brown/mnt/outputs/shots2/12-pending-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9344"/>
            <a:ext cx="11109960" cy="4092199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90" kern="0" dirty="0">
                <a:solidFill>
                  <a:srgbClr val="6B778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ACCOUNT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0F172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profile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Username permanent, institutional address changeable, personal address separate and confirmable on its own. Past affiliations appear here once there are any.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3432053" y="1527048"/>
            <a:ext cx="5343133" cy="5010912"/>
          </a:xfrm>
          <a:prstGeom prst="roundRect">
            <a:avLst>
              <a:gd name="adj" fmla="val 3047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203200" dist="76200" dir="5400000">
              <a:srgbClr val="0F172A">
                <a:alpha val="10000"/>
              </a:srgbClr>
            </a:outerShdw>
          </a:effectLst>
        </p:spPr>
      </p:sp>
      <p:pic>
        <p:nvPicPr>
          <p:cNvPr id="6" name="Image 0" descr="/sessions/exciting-lucid-brown/mnt/outputs/shots2/11-profi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14349" y="1609344"/>
            <a:ext cx="5178541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18288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spc="-300" kern="0" dirty="0">
                <a:solidFill>
                  <a:srgbClr val="A793F7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3</a:t>
            </a:r>
            <a:endParaRPr lang="en-US" sz="84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2461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20" kern="0" dirty="0">
                <a:solidFill>
                  <a:srgbClr val="FBFCF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Running an institution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96112" y="411480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A7B2C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super user works across the platform. A program administrator runs one institution — and is the person the queue is really for.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90" kern="0" dirty="0">
                <a:solidFill>
                  <a:srgbClr val="6B778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SUPER USER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0F172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dashboard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How many people are waiting, how many institutions auto-validate, and how many accounts exist. Each is a link to the screen that answers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9859" y="1527048"/>
            <a:ext cx="10727522" cy="5010912"/>
          </a:xfrm>
          <a:prstGeom prst="roundRect">
            <a:avLst>
              <a:gd name="adj" fmla="val 3047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203200" dist="76200" dir="5400000">
              <a:srgbClr val="0F172A">
                <a:alpha val="10000"/>
              </a:srgbClr>
            </a:outerShdw>
          </a:effectLst>
        </p:spPr>
      </p:sp>
      <p:pic>
        <p:nvPicPr>
          <p:cNvPr id="6" name="Image 0" descr="/sessions/exciting-lucid-brown/mnt/outputs/shots2/20-admin-dashboar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155" y="1609344"/>
            <a:ext cx="1056293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90" kern="0" dirty="0">
                <a:solidFill>
                  <a:srgbClr val="6B778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SUPER USER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0F172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validation queue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Everybody waiting, with the institution they named and whether they have confirmed their address. Two buttons, and both are final.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739859" y="1527048"/>
            <a:ext cx="10727522" cy="5010912"/>
          </a:xfrm>
          <a:prstGeom prst="roundRect">
            <a:avLst>
              <a:gd name="adj" fmla="val 3047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203200" dist="76200" dir="5400000">
              <a:srgbClr val="0F172A">
                <a:alpha val="10000"/>
              </a:srgbClr>
            </a:outerShdw>
          </a:effectLst>
        </p:spPr>
      </p:sp>
      <p:pic>
        <p:nvPicPr>
          <p:cNvPr id="6" name="Image 0" descr="/sessions/exciting-lucid-brown/mnt/outputs/shots2/21-admin-queu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155" y="1609344"/>
            <a:ext cx="1056293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90" kern="0" dirty="0">
                <a:solidFill>
                  <a:srgbClr val="6B778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SUPER USER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0F172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Accepting somebody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dialog repeats what is being decided and offers a note, which is kept on the record with who made the decision.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399025" y="1527048"/>
            <a:ext cx="9409190" cy="5010912"/>
          </a:xfrm>
          <a:prstGeom prst="roundRect">
            <a:avLst>
              <a:gd name="adj" fmla="val 3047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203200" dist="76200" dir="5400000">
              <a:srgbClr val="0F172A">
                <a:alpha val="10000"/>
              </a:srgbClr>
            </a:outerShdw>
          </a:effectLst>
        </p:spPr>
      </p:sp>
      <p:pic>
        <p:nvPicPr>
          <p:cNvPr id="6" name="Image 0" descr="/sessions/exciting-lucid-brown/mnt/outputs/shots2/26-accept-dialo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81321" y="1609344"/>
            <a:ext cx="9244598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90" kern="0" dirty="0">
                <a:solidFill>
                  <a:srgbClr val="6B778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SUPER USER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0F172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People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 account, with its rank, institution, how its membership was established and whether the address is confirmed. A program administrator sees this same screen, scoped to their own institution.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808021" y="1527048"/>
            <a:ext cx="8591199" cy="5010912"/>
          </a:xfrm>
          <a:prstGeom prst="roundRect">
            <a:avLst>
              <a:gd name="adj" fmla="val 3047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203200" dist="76200" dir="5400000">
              <a:srgbClr val="0F172A">
                <a:alpha val="10000"/>
              </a:srgbClr>
            </a:outerShdw>
          </a:effectLst>
        </p:spPr>
      </p:sp>
      <p:pic>
        <p:nvPicPr>
          <p:cNvPr id="6" name="Image 0" descr="/sessions/exciting-lucid-brown/mnt/outputs/shots2/22-admin-peop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0317" y="1609344"/>
            <a:ext cx="8426607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182880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spc="-300" kern="0" dirty="0">
                <a:solidFill>
                  <a:srgbClr val="8AA8F5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4</a:t>
            </a:r>
            <a:endParaRPr lang="en-US" sz="84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324612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-120" kern="0" dirty="0">
                <a:solidFill>
                  <a:srgbClr val="FBFCF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Institutions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96112" y="4114800"/>
            <a:ext cx="8778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300"/>
              </a:lnSpc>
              <a:buNone/>
            </a:pPr>
            <a:r>
              <a:rPr lang="en-US" sz="1500" dirty="0">
                <a:solidFill>
                  <a:srgbClr val="A7B2C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An institution owns email domains. Anyone who signs up on one of them is validated automatically — which is how the queue stays short.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90" kern="0" dirty="0">
                <a:solidFill>
                  <a:srgbClr val="6B778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INSTITUTIONS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0F172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 line each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The list is going to be long, so a closed row is a name and whether it is on. Everything else is what you look at when you are working on one institution, not when you are looking for one.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466344" y="1527048"/>
            <a:ext cx="11274552" cy="4113205"/>
          </a:xfrm>
          <a:prstGeom prst="roundRect">
            <a:avLst>
              <a:gd name="adj" fmla="val 3713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203200" dist="76200" dir="5400000">
              <a:srgbClr val="0F172A">
                <a:alpha val="10000"/>
              </a:srgbClr>
            </a:outerShdw>
          </a:effectLst>
        </p:spPr>
      </p:sp>
      <p:pic>
        <p:nvPicPr>
          <p:cNvPr id="6" name="Image 0" descr="/sessions/exciting-lucid-brown/mnt/outputs/shots2/23-institutions-list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9344"/>
            <a:ext cx="11109960" cy="394861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90" kern="0" dirty="0">
                <a:solidFill>
                  <a:srgbClr val="6B778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INSTITUTIONS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0F172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Open one, and it is all there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Domains, description, and the people invited to administer it. Removing a domain never removes anybody already validated by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900621" y="1527048"/>
            <a:ext cx="8405999" cy="5010912"/>
          </a:xfrm>
          <a:prstGeom prst="roundRect">
            <a:avLst>
              <a:gd name="adj" fmla="val 3047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203200" dist="76200" dir="5400000">
              <a:srgbClr val="0F172A">
                <a:alpha val="10000"/>
              </a:srgbClr>
            </a:outerShdw>
          </a:effectLst>
        </p:spPr>
      </p:sp>
      <p:pic>
        <p:nvPicPr>
          <p:cNvPr id="6" name="Image 0" descr="/sessions/exciting-lucid-brown/mnt/outputs/shots2/24-institution-expande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82917" y="1609344"/>
            <a:ext cx="8241407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90" kern="0" dirty="0">
                <a:solidFill>
                  <a:srgbClr val="9A610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INSTITUTIONS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0F172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How the first administrator gets in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Everybody after them is approved locally. Only the first one has to come from us.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810512"/>
            <a:ext cx="11109960" cy="859536"/>
          </a:xfrm>
          <a:prstGeom prst="roundRect">
            <a:avLst>
              <a:gd name="adj" fmla="val 17766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810512"/>
            <a:ext cx="50292" cy="859536"/>
          </a:xfrm>
          <a:prstGeom prst="roundRect">
            <a:avLst>
              <a:gd name="adj" fmla="val 150909"/>
            </a:avLst>
          </a:prstGeom>
          <a:solidFill>
            <a:srgbClr val="D98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911096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20" kern="0" dirty="0">
                <a:solidFill>
                  <a:srgbClr val="0F172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 super user sends an invitation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176272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B55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Typed on the institution’s own row. No account is created — the invitation is an offer, and it expires after fourteen days.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779776"/>
            <a:ext cx="11109960" cy="859536"/>
          </a:xfrm>
          <a:prstGeom prst="roundRect">
            <a:avLst>
              <a:gd name="adj" fmla="val 17766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2779776"/>
            <a:ext cx="50292" cy="859536"/>
          </a:xfrm>
          <a:prstGeom prst="roundRect">
            <a:avLst>
              <a:gd name="adj" fmla="val 150909"/>
            </a:avLst>
          </a:prstGeom>
          <a:solidFill>
            <a:srgbClr val="D98A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68680" y="288036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20" kern="0" dirty="0">
                <a:solidFill>
                  <a:srgbClr val="0F172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They open the link and pick a username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68680" y="3145536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B55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A name, a username, a password and a personal address. The institution and the rank came with the link, so there is nothing to choose and nothing to get wrong.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11109960" cy="859536"/>
          </a:xfrm>
          <a:prstGeom prst="roundRect">
            <a:avLst>
              <a:gd name="adj" fmla="val 17766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749040"/>
            <a:ext cx="50292" cy="859536"/>
          </a:xfrm>
          <a:prstGeom prst="roundRect">
            <a:avLst>
              <a:gd name="adj" fmla="val 150909"/>
            </a:avLst>
          </a:prstGeom>
          <a:solidFill>
            <a:srgbClr val="0A7D4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3849624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20" kern="0" dirty="0">
                <a:solidFill>
                  <a:srgbClr val="0F172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They arrive already validated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" y="4114800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B55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No review queue and no confirmation mail: reading the invitation is the proof that the mailbox is theirs.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48640" y="4718304"/>
            <a:ext cx="11109960" cy="859536"/>
          </a:xfrm>
          <a:prstGeom prst="roundRect">
            <a:avLst>
              <a:gd name="adj" fmla="val 17766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4718304"/>
            <a:ext cx="50292" cy="859536"/>
          </a:xfrm>
          <a:prstGeom prst="roundRect">
            <a:avLst>
              <a:gd name="adj" fmla="val 150909"/>
            </a:avLst>
          </a:prstGeom>
          <a:solidFill>
            <a:srgbClr val="6E4BE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4818888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-20" kern="0" dirty="0">
                <a:solidFill>
                  <a:srgbClr val="0F172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From then on it is local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5084064"/>
            <a:ext cx="10515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4B55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That administrator approves the trainees, the attending physicians and any further administrators at their institution. A super user is not in the loop again.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797296"/>
            <a:ext cx="11109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78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 live invitation per address per institution. Withdrawing one stops its link working immediately.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6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20624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90" kern="0" dirty="0">
                <a:solidFill>
                  <a:srgbClr val="6B7789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REFERENCE LISTS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94944"/>
            <a:ext cx="11155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spc="-50" kern="0" dirty="0">
                <a:solidFill>
                  <a:srgbClr val="0F172A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lists behind the forms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188720"/>
            <a:ext cx="11109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4B556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Specialties, PGY levels, residency and fellowship programmes. Editing one changes every signup form at once, so retiring an entry is usually the right move over deleting 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2415709" y="1527048"/>
            <a:ext cx="7375823" cy="5010912"/>
          </a:xfrm>
          <a:prstGeom prst="roundRect">
            <a:avLst>
              <a:gd name="adj" fmla="val 3047"/>
            </a:avLst>
          </a:prstGeom>
          <a:solidFill>
            <a:srgbClr val="FFFFFF"/>
          </a:solidFill>
          <a:ln w="12700">
            <a:solidFill>
              <a:srgbClr val="DFE5EE"/>
            </a:solidFill>
            <a:prstDash val="solid"/>
          </a:ln>
          <a:effectLst>
            <a:outerShdw sx="100000" sy="100000" kx="0" ky="0" algn="bl" rotWithShape="0" blurRad="203200" dist="76200" dir="5400000">
              <a:srgbClr val="0F172A">
                <a:alpha val="10000"/>
              </a:srgbClr>
            </a:outerShdw>
          </a:effectLst>
        </p:spPr>
      </p:sp>
      <p:pic>
        <p:nvPicPr>
          <p:cNvPr id="6" name="Image 0" descr="/sessions/exciting-lucid-brown/mnt/outputs/shots2/25-reference-lists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8005" y="1609344"/>
            <a:ext cx="7211231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68680" y="1737360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10" kern="0" dirty="0">
                <a:solidFill>
                  <a:srgbClr val="8AA8F5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WHAT IS NEXT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868680" y="21031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spc="-120" kern="0" dirty="0">
                <a:solidFill>
                  <a:srgbClr val="FBFCF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Two things we need from you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68680" y="3200400"/>
            <a:ext cx="5029200" cy="1920240"/>
          </a:xfrm>
          <a:prstGeom prst="roundRect">
            <a:avLst>
              <a:gd name="adj" fmla="val 7952"/>
            </a:avLst>
          </a:prstGeom>
          <a:solidFill>
            <a:srgbClr val="15223D"/>
          </a:solidFill>
          <a:ln w="12700">
            <a:solidFill>
              <a:srgbClr val="33405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234440" y="3520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40" kern="0" dirty="0">
                <a:solidFill>
                  <a:srgbClr val="FBFCF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The email domains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39319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7B2C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For Einstein and Duke — the domain each one owns is what makes the happy path work at all. Without it nobody is auto-validated.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63640" y="3200400"/>
            <a:ext cx="5029200" cy="1920240"/>
          </a:xfrm>
          <a:prstGeom prst="roundRect">
            <a:avLst>
              <a:gd name="adj" fmla="val 7952"/>
            </a:avLst>
          </a:prstGeom>
          <a:solidFill>
            <a:srgbClr val="15223D"/>
          </a:solidFill>
          <a:ln w="12700">
            <a:solidFill>
              <a:srgbClr val="33405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629400" y="35204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-40" kern="0" dirty="0">
                <a:solidFill>
                  <a:srgbClr val="FBFCFE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Who the first administrator is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629400" y="39319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A7B2C6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One name and one address per institution. That is the only thing an invitation needs.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96112" y="5577840"/>
            <a:ext cx="10058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7E8CA3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Comments welcome — highlight anything on any slide and comment on it.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EyeLecture — signing up</dc:title>
  <dc:subject>PptxGenJS Presentation</dc:subject>
  <dc:creator>EyeLecture</dc:creator>
  <cp:lastModifiedBy>EyeLecture</cp:lastModifiedBy>
  <cp:revision>1</cp:revision>
  <dcterms:created xsi:type="dcterms:W3CDTF">2026-10-01T15:09:49Z</dcterms:created>
  <dcterms:modified xsi:type="dcterms:W3CDTF">2026-10-01T15:09:49Z</dcterms:modified>
</cp:coreProperties>
</file>